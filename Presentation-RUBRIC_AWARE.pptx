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5" r:id="rId8"/>
    <p:sldId id="260" r:id="rId9"/>
    <p:sldId id="266" r:id="rId10"/>
    <p:sldId id="267" r:id="rId11"/>
    <p:sldId id="268" r:id="rId12"/>
    <p:sldId id="261" r:id="rId13"/>
    <p:sldId id="262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25DBF3-D63D-EE4D-B70B-4A9B6142860E}" v="2" dt="2026-05-12T03:21:43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3"/>
  </p:normalViewPr>
  <p:slideViewPr>
    <p:cSldViewPr snapToGrid="0" snapToObjects="1">
      <p:cViewPr varScale="1">
        <p:scale>
          <a:sx n="127" d="100"/>
          <a:sy n="127" d="100"/>
        </p:scale>
        <p:origin x="184" y="8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46520" y="502920"/>
            <a:ext cx="310896" cy="310896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976872" y="502920"/>
            <a:ext cx="310896" cy="310896"/>
          </a:xfrm>
          <a:prstGeom prst="ellipse">
            <a:avLst/>
          </a:prstGeom>
          <a:solidFill>
            <a:srgbClr val="F9C74F"/>
          </a:solidFill>
          <a:ln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507223" y="502920"/>
            <a:ext cx="310896" cy="310896"/>
          </a:xfrm>
          <a:prstGeom prst="ellipse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530352"/>
            <a:ext cx="1078992" cy="310896"/>
          </a:xfrm>
          <a:prstGeom prst="roundRect">
            <a:avLst/>
          </a:prstGeom>
          <a:solidFill>
            <a:srgbClr val="17212B"/>
          </a:solidFill>
          <a:ln>
            <a:solidFill>
              <a:srgbClr val="17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Scenario C</a:t>
            </a:r>
          </a:p>
        </p:txBody>
      </p:sp>
      <p:sp useBgFill="1">
        <p:nvSpPr>
          <p:cNvPr id="7" name="TextBox 6"/>
          <p:cNvSpPr txBox="1"/>
          <p:nvPr/>
        </p:nvSpPr>
        <p:spPr>
          <a:xfrm>
            <a:off x="2944368" y="960120"/>
            <a:ext cx="5394960" cy="1745093"/>
          </a:xfrm>
          <a:prstGeom prst="rect">
            <a:avLst/>
          </a:prstGeom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700" b="1" dirty="0">
                <a:ln w="22225">
                  <a:noFill/>
                  <a:prstDash val="solid"/>
                </a:ln>
                <a:solidFill>
                  <a:srgbClr val="92D050"/>
                </a:solidFill>
                <a:latin typeface="Aptos Display"/>
              </a:rPr>
              <a:t>Rubric-Aware
Writing Feedback
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0088" y="2761488"/>
            <a:ext cx="5166360" cy="49859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dirty="0">
                <a:solidFill>
                  <a:srgbClr val="F7F4EF"/>
                </a:solidFill>
                <a:latin typeface="Aptos"/>
              </a:rPr>
              <a:t>A student-facing formative feedback tool that turns a draft and rubric into concrete revision priorities before instructor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3886200"/>
            <a:ext cx="4389120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2C39A"/>
                </a:solidFill>
                <a:latin typeface="Aptos"/>
              </a:rPr>
              <a:t>Core measure: the learner knows what to revise next.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28090"/>
                </a:solidFill>
                <a:latin typeface="Apto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955279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700" b="1" dirty="0">
                <a:solidFill>
                  <a:srgbClr val="17212B"/>
                </a:solidFill>
                <a:latin typeface="Aptos"/>
              </a:rPr>
              <a:t>Students need earlier rubric-aligned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7863840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Aptos"/>
              </a:rPr>
              <a:t>The MVP addresses the feedback gap before final instructor or TA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23317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73152" cy="251460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737360"/>
            <a:ext cx="1984248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 dirty="0">
                <a:solidFill>
                  <a:srgbClr val="17212B"/>
                </a:solidFill>
                <a:latin typeface="Aptos"/>
              </a:rPr>
              <a:t>Learner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9696"/>
            <a:ext cx="1984248" cy="7448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 dirty="0">
                <a:solidFill>
                  <a:srgbClr val="2F3A45"/>
                </a:solidFill>
                <a:latin typeface="Aptos"/>
              </a:rPr>
              <a:t>Students often submit writing without knowing whether it matches the rubric or where revision effort should go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572768"/>
            <a:ext cx="23317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01568" y="1572768"/>
            <a:ext cx="73152" cy="2514600"/>
          </a:xfrm>
          <a:prstGeom prst="rect">
            <a:avLst/>
          </a:prstGeom>
          <a:solidFill>
            <a:srgbClr val="F9C74F"/>
          </a:solidFill>
          <a:ln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75304" y="1769949"/>
            <a:ext cx="1984248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 dirty="0">
                <a:solidFill>
                  <a:srgbClr val="17212B"/>
                </a:solidFill>
                <a:latin typeface="Aptos"/>
              </a:rPr>
              <a:t>Course-team 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2139696"/>
            <a:ext cx="1984248" cy="7448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 dirty="0">
                <a:solidFill>
                  <a:srgbClr val="2F3A45"/>
                </a:solidFill>
                <a:latin typeface="Aptos"/>
              </a:rPr>
              <a:t>Instructors and TAs cannot always provide early, individualized draft feedback to every student.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572768"/>
            <a:ext cx="23317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44768" y="1572768"/>
            <a:ext cx="73152" cy="25146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5936" y="1737360"/>
            <a:ext cx="1984248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Product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139696"/>
            <a:ext cx="1984248" cy="7448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 dirty="0">
                <a:solidFill>
                  <a:srgbClr val="2F3A45"/>
                </a:solidFill>
                <a:latin typeface="Aptos"/>
              </a:rPr>
              <a:t>A rubric-aware workflow can provide specific, formative guidance while preserving instructor authority.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828032"/>
            <a:ext cx="32004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Rubric-Aware Writing Feedback MVP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28090"/>
                </a:solidFill>
                <a:latin typeface="Aptos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955279" cy="8679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dirty="0">
                <a:solidFill>
                  <a:srgbClr val="17212B"/>
                </a:solidFill>
                <a:latin typeface="Aptos"/>
              </a:rPr>
              <a:t>V1 keeps the student workflow focused and revision-oriented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1298448" cy="868680"/>
          </a:xfrm>
          <a:prstGeom prst="roundRect">
            <a:avLst/>
          </a:prstGeom>
          <a:solidFill>
            <a:srgbClr val="F7F4EF"/>
          </a:solidFill>
          <a:ln w="1778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1691640"/>
            <a:ext cx="1024127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Submit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956816"/>
            <a:ext cx="1024127" cy="4297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60" b="0">
                <a:solidFill>
                  <a:srgbClr val="667085"/>
                </a:solidFill>
                <a:latin typeface="Aptos"/>
              </a:rPr>
              <a:t>Draft + rubric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93392" y="2011680"/>
            <a:ext cx="457200" cy="0"/>
          </a:xfrm>
          <a:prstGeom prst="line">
            <a:avLst/>
          </a:prstGeom>
          <a:ln w="2032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23744" y="1572768"/>
            <a:ext cx="1298448" cy="868680"/>
          </a:xfrm>
          <a:prstGeom prst="roundRect">
            <a:avLst/>
          </a:prstGeom>
          <a:solidFill>
            <a:srgbClr val="F7F4EF"/>
          </a:solidFill>
          <a:ln w="1778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60903" y="1691640"/>
            <a:ext cx="1024127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0903" y="1956816"/>
            <a:ext cx="1024127" cy="4297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60" b="0">
                <a:solidFill>
                  <a:srgbClr val="667085"/>
                </a:solidFill>
                <a:latin typeface="Aptos"/>
              </a:rPr>
              <a:t>Structure + argument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58768" y="2011680"/>
            <a:ext cx="457200" cy="0"/>
          </a:xfrm>
          <a:prstGeom prst="line">
            <a:avLst/>
          </a:prstGeom>
          <a:ln w="2032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9120" y="1572768"/>
            <a:ext cx="1298448" cy="868680"/>
          </a:xfrm>
          <a:prstGeom prst="roundRect">
            <a:avLst/>
          </a:prstGeom>
          <a:solidFill>
            <a:srgbClr val="F7F4EF"/>
          </a:solidFill>
          <a:ln w="1778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691640"/>
            <a:ext cx="1024127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Align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56816"/>
            <a:ext cx="1024127" cy="4297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60" b="0">
                <a:solidFill>
                  <a:srgbClr val="667085"/>
                </a:solidFill>
                <a:latin typeface="Aptos"/>
              </a:rPr>
              <a:t>Criterion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24144" y="2011680"/>
            <a:ext cx="457200" cy="0"/>
          </a:xfrm>
          <a:prstGeom prst="line">
            <a:avLst/>
          </a:prstGeom>
          <a:ln w="2032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54496" y="1572768"/>
            <a:ext cx="1298448" cy="868680"/>
          </a:xfrm>
          <a:prstGeom prst="roundRect">
            <a:avLst/>
          </a:prstGeom>
          <a:solidFill>
            <a:srgbClr val="F7F4EF"/>
          </a:solidFill>
          <a:ln w="1778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91656" y="1691640"/>
            <a:ext cx="1024127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Revise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1956816"/>
            <a:ext cx="1024127" cy="4297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60" b="0">
                <a:solidFill>
                  <a:srgbClr val="667085"/>
                </a:solidFill>
                <a:latin typeface="Aptos"/>
              </a:rPr>
              <a:t>Priorities + 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63240"/>
            <a:ext cx="7406640" cy="105156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F3A45"/>
                </a:solidFill>
                <a:latin typeface="Aptos"/>
              </a:defRPr>
            </a:pPr>
            <a:r>
              <a:rPr dirty="0"/>
              <a:t>Includes: overall summary, readiness level, strengths, top priorities, rubric cards, inline comments, coaching questions, topic map, checklist.</a:t>
            </a:r>
          </a:p>
          <a:p>
            <a:pPr>
              <a:spcAft>
                <a:spcPts val="700"/>
              </a:spcAft>
              <a:defRPr sz="1250">
                <a:solidFill>
                  <a:srgbClr val="2F3A45"/>
                </a:solidFill>
                <a:latin typeface="Aptos"/>
              </a:defRPr>
            </a:pPr>
            <a:r>
              <a:rPr dirty="0"/>
              <a:t>Excludes: grades, LMS submission, plagiarism detection, OCR, full draft-to-draft tracking.</a:t>
            </a:r>
          </a:p>
          <a:p>
            <a:pPr>
              <a:spcAft>
                <a:spcPts val="700"/>
              </a:spcAft>
              <a:defRPr sz="1250">
                <a:solidFill>
                  <a:srgbClr val="2F3A45"/>
                </a:solidFill>
                <a:latin typeface="Aptos"/>
              </a:defRPr>
            </a:pPr>
            <a:r>
              <a:rPr dirty="0"/>
              <a:t>Captures usefulness ratings and basic events so pilot quality can be measured.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828032"/>
            <a:ext cx="32004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Rubric-Aware Writing Feedback MVP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2C00CB-7946-0C09-971B-7390990E21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63" b="4754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814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28090"/>
                </a:solidFill>
                <a:latin typeface="Aptos"/>
              </a:rPr>
              <a:t>AI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955279" cy="8679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dirty="0">
                <a:solidFill>
                  <a:srgbClr val="17212B"/>
                </a:solidFill>
                <a:latin typeface="Aptos"/>
              </a:rPr>
              <a:t>A staged agentic pipeline beats one generic chatbot response</a:t>
            </a:r>
          </a:p>
        </p:txBody>
      </p:sp>
      <p:sp>
        <p:nvSpPr>
          <p:cNvPr id="4" name="Oval 3"/>
          <p:cNvSpPr/>
          <p:nvPr/>
        </p:nvSpPr>
        <p:spPr>
          <a:xfrm>
            <a:off x="923544" y="1481328"/>
            <a:ext cx="530352" cy="530352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1609344"/>
            <a:ext cx="53035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157984"/>
            <a:ext cx="11430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Validate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87168"/>
            <a:ext cx="1298448" cy="3077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0" dirty="0">
                <a:solidFill>
                  <a:srgbClr val="667085"/>
                </a:solidFill>
                <a:latin typeface="Aptos"/>
              </a:rPr>
              <a:t>Draft, rubric, length, file type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36192" y="1746504"/>
            <a:ext cx="393192" cy="0"/>
          </a:xfrm>
          <a:prstGeom prst="line">
            <a:avLst/>
          </a:prstGeom>
          <a:ln w="15240">
            <a:solidFill>
              <a:srgbClr val="D6D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13432" y="1481328"/>
            <a:ext cx="530352" cy="530352"/>
          </a:xfrm>
          <a:prstGeom prst="ellipse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13432" y="1609344"/>
            <a:ext cx="53035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157984"/>
            <a:ext cx="11430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Parse rubric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2487168"/>
            <a:ext cx="1298448" cy="3077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0" dirty="0">
                <a:solidFill>
                  <a:srgbClr val="667085"/>
                </a:solidFill>
                <a:latin typeface="Aptos"/>
              </a:rPr>
              <a:t>Criteria only from provided rubric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1746504"/>
            <a:ext cx="393192" cy="0"/>
          </a:xfrm>
          <a:prstGeom prst="line">
            <a:avLst/>
          </a:prstGeom>
          <a:ln w="15240">
            <a:solidFill>
              <a:srgbClr val="D6D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703320" y="1481328"/>
            <a:ext cx="530352" cy="530352"/>
          </a:xfrm>
          <a:prstGeom prst="ellipse">
            <a:avLst/>
          </a:prstGeom>
          <a:solidFill>
            <a:srgbClr val="F9C74F"/>
          </a:solidFill>
          <a:ln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20" y="1609344"/>
            <a:ext cx="53035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157984"/>
            <a:ext cx="11430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Analyze draft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2487168"/>
            <a:ext cx="1298448" cy="3077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0" dirty="0">
                <a:solidFill>
                  <a:srgbClr val="667085"/>
                </a:solidFill>
                <a:latin typeface="Aptos"/>
              </a:rPr>
              <a:t>Structure, thesis, flow, reasoning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15968" y="1746504"/>
            <a:ext cx="393192" cy="0"/>
          </a:xfrm>
          <a:prstGeom prst="line">
            <a:avLst/>
          </a:prstGeom>
          <a:ln w="15240">
            <a:solidFill>
              <a:srgbClr val="D6D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093208" y="1481328"/>
            <a:ext cx="530352" cy="530352"/>
          </a:xfrm>
          <a:prstGeom prst="ellipse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93208" y="1609344"/>
            <a:ext cx="53035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1456" y="2157984"/>
            <a:ext cx="11430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Align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8304" y="2487168"/>
            <a:ext cx="1298448" cy="3077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0" dirty="0">
                <a:solidFill>
                  <a:srgbClr val="667085"/>
                </a:solidFill>
                <a:latin typeface="Aptos"/>
              </a:rPr>
              <a:t>Evidence or </a:t>
            </a:r>
            <a:r>
              <a:rPr sz="880" b="0" dirty="0" err="1">
                <a:solidFill>
                  <a:srgbClr val="667085"/>
                </a:solidFill>
                <a:latin typeface="Aptos"/>
              </a:rPr>
              <a:t>not_enough_evidence</a:t>
            </a:r>
            <a:endParaRPr sz="880" b="0" dirty="0">
              <a:solidFill>
                <a:srgbClr val="667085"/>
              </a:solidFill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705856" y="1746504"/>
            <a:ext cx="393192" cy="0"/>
          </a:xfrm>
          <a:prstGeom prst="line">
            <a:avLst/>
          </a:prstGeom>
          <a:ln w="15240">
            <a:solidFill>
              <a:srgbClr val="D6D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83096" y="1481328"/>
            <a:ext cx="530352" cy="530352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3096" y="1609344"/>
            <a:ext cx="53035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2157984"/>
            <a:ext cx="11430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Synthesize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2487168"/>
            <a:ext cx="1298448" cy="3077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0" dirty="0">
                <a:solidFill>
                  <a:srgbClr val="667085"/>
                </a:solidFill>
                <a:latin typeface="Aptos"/>
              </a:rPr>
              <a:t>Student-facing revision guidance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95744" y="1746504"/>
            <a:ext cx="393192" cy="0"/>
          </a:xfrm>
          <a:prstGeom prst="line">
            <a:avLst/>
          </a:prstGeom>
          <a:ln w="15240">
            <a:solidFill>
              <a:srgbClr val="D6D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872983" y="1481328"/>
            <a:ext cx="530352" cy="530352"/>
          </a:xfrm>
          <a:prstGeom prst="ellipse">
            <a:avLst/>
          </a:prstGeom>
          <a:solidFill>
            <a:srgbClr val="2F3A45"/>
          </a:solidFill>
          <a:ln>
            <a:solidFill>
              <a:srgbClr val="2F3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72983" y="1609344"/>
            <a:ext cx="53035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2157984"/>
            <a:ext cx="11430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487168"/>
            <a:ext cx="1298448" cy="3077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0" dirty="0">
                <a:solidFill>
                  <a:srgbClr val="667085"/>
                </a:solidFill>
                <a:latin typeface="Aptos"/>
              </a:rPr>
              <a:t>Tone, grounding, no grades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3675887"/>
            <a:ext cx="34015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4400" y="3675887"/>
            <a:ext cx="73152" cy="713232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15568" y="3758185"/>
            <a:ext cx="3054096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 dirty="0">
                <a:solidFill>
                  <a:srgbClr val="17212B"/>
                </a:solidFill>
                <a:latin typeface="Aptos"/>
              </a:rPr>
              <a:t>Guardrail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" y="3992517"/>
            <a:ext cx="3054096" cy="39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 dirty="0">
                <a:solidFill>
                  <a:srgbClr val="2F3A45"/>
                </a:solidFill>
                <a:latin typeface="Aptos"/>
              </a:rPr>
              <a:t>The model must not invent criteria or assign grades.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09160" y="3675887"/>
            <a:ext cx="34015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09160" y="3675887"/>
            <a:ext cx="73152" cy="713232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91035" y="3758185"/>
            <a:ext cx="3054096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 dirty="0">
                <a:solidFill>
                  <a:srgbClr val="17212B"/>
                </a:solidFill>
                <a:latin typeface="Aptos"/>
              </a:rPr>
              <a:t>Trust signal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9472" y="3992517"/>
            <a:ext cx="3054096" cy="39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 dirty="0">
                <a:solidFill>
                  <a:srgbClr val="2F3A45"/>
                </a:solidFill>
                <a:latin typeface="Aptos"/>
              </a:rPr>
              <a:t>Each rubric item cites draft evidence or marks uncertainty.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828032"/>
            <a:ext cx="32004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Rubric-Aware Writing Feedback MVP  | 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DF5B85-C4DB-217F-46EE-D7C9E22011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57" b="435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495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9F8066-2CCE-6283-0914-71CE3CECCC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85" b="4232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45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28090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955279" cy="8679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dirty="0">
                <a:solidFill>
                  <a:srgbClr val="17212B"/>
                </a:solidFill>
                <a:latin typeface="Aptos"/>
              </a:rPr>
              <a:t>The stack is simple, typed, and ready for a two-week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895657"/>
            <a:ext cx="1417320" cy="786384"/>
          </a:xfrm>
          <a:prstGeom prst="roundRect">
            <a:avLst/>
          </a:prstGeom>
          <a:solidFill>
            <a:srgbClr val="F7F4EF"/>
          </a:solidFill>
          <a:ln w="1778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2014529"/>
            <a:ext cx="114300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React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221693"/>
            <a:ext cx="1143000" cy="4339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60" b="0" dirty="0">
                <a:solidFill>
                  <a:srgbClr val="667085"/>
                </a:solidFill>
                <a:latin typeface="Aptos"/>
              </a:rPr>
              <a:t>Draft form
results
rating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84831" y="2288849"/>
            <a:ext cx="493777" cy="0"/>
          </a:xfrm>
          <a:prstGeom prst="line">
            <a:avLst/>
          </a:prstGeom>
          <a:ln w="1905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51760" y="1895657"/>
            <a:ext cx="1417320" cy="786384"/>
          </a:xfrm>
          <a:prstGeom prst="roundRect">
            <a:avLst/>
          </a:prstGeom>
          <a:solidFill>
            <a:srgbClr val="F7F4EF"/>
          </a:solidFill>
          <a:ln w="1778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2014529"/>
            <a:ext cx="114300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218170"/>
            <a:ext cx="1143000" cy="4339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60" b="0" dirty="0">
                <a:solidFill>
                  <a:srgbClr val="667085"/>
                </a:solidFill>
                <a:latin typeface="Aptos"/>
              </a:rPr>
              <a:t>Routes
validation
errors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2288849"/>
            <a:ext cx="493776" cy="0"/>
          </a:xfrm>
          <a:prstGeom prst="line">
            <a:avLst/>
          </a:prstGeom>
          <a:ln w="1905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81728" y="1895657"/>
            <a:ext cx="1417320" cy="786384"/>
          </a:xfrm>
          <a:prstGeom prst="roundRect">
            <a:avLst/>
          </a:prstGeom>
          <a:solidFill>
            <a:srgbClr val="F7F4EF"/>
          </a:solidFill>
          <a:ln w="1778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18888" y="2014529"/>
            <a:ext cx="114300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Agent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5873" y="2218170"/>
            <a:ext cx="11430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60" b="0" dirty="0">
                <a:solidFill>
                  <a:srgbClr val="667085"/>
                </a:solidFill>
                <a:latin typeface="Aptos"/>
              </a:rPr>
              <a:t>Parse
analyze
align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44768" y="2288849"/>
            <a:ext cx="493776" cy="0"/>
          </a:xfrm>
          <a:prstGeom prst="line">
            <a:avLst/>
          </a:prstGeom>
          <a:ln w="1905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11696" y="1895657"/>
            <a:ext cx="1417320" cy="786384"/>
          </a:xfrm>
          <a:prstGeom prst="roundRect">
            <a:avLst/>
          </a:prstGeom>
          <a:solidFill>
            <a:srgbClr val="F7F4EF"/>
          </a:solidFill>
          <a:ln w="1778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48856" y="2014529"/>
            <a:ext cx="114300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Pydantic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6" y="2218170"/>
            <a:ext cx="11430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60" b="0" dirty="0">
                <a:solidFill>
                  <a:srgbClr val="667085"/>
                </a:solidFill>
                <a:latin typeface="Aptos"/>
              </a:rPr>
              <a:t>Structured
validated
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38528" y="3063240"/>
            <a:ext cx="1417320" cy="786384"/>
          </a:xfrm>
          <a:prstGeom prst="roundRect">
            <a:avLst/>
          </a:prstGeom>
          <a:solidFill>
            <a:srgbClr val="F7F4EF"/>
          </a:solidFill>
          <a:ln w="17780">
            <a:solidFill>
              <a:srgbClr val="2F3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75688" y="3182112"/>
            <a:ext cx="114300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3364992"/>
            <a:ext cx="11430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60" b="0" dirty="0">
                <a:solidFill>
                  <a:srgbClr val="667085"/>
                </a:solidFill>
                <a:latin typeface="Aptos"/>
              </a:rPr>
              <a:t>Sessions
events
ratings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063240"/>
            <a:ext cx="1417320" cy="786384"/>
          </a:xfrm>
          <a:prstGeom prst="roundRect">
            <a:avLst/>
          </a:prstGeom>
          <a:solidFill>
            <a:srgbClr val="F7F4EF"/>
          </a:solidFill>
          <a:ln w="1778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23360" y="3182112"/>
            <a:ext cx="114300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LLM 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447288"/>
            <a:ext cx="11430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60" b="0">
                <a:solidFill>
                  <a:srgbClr val="667085"/>
                </a:solidFill>
                <a:latin typeface="Aptos"/>
              </a:rPr>
              <a:t>OpenAI or
Azure-ready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33872" y="3063240"/>
            <a:ext cx="1417320" cy="786384"/>
          </a:xfrm>
          <a:prstGeom prst="roundRect">
            <a:avLst/>
          </a:prstGeom>
          <a:solidFill>
            <a:srgbClr val="F7F4EF"/>
          </a:solidFill>
          <a:ln w="1778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71032" y="3182112"/>
            <a:ext cx="114300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7212B"/>
                </a:solidFill>
                <a:latin typeface="Aptos"/>
              </a:rPr>
              <a:t>Observability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2" y="3364992"/>
            <a:ext cx="11430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60" b="0" dirty="0">
                <a:solidFill>
                  <a:srgbClr val="667085"/>
                </a:solidFill>
                <a:latin typeface="Aptos"/>
              </a:rPr>
              <a:t>Latency
retries
failures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64992" y="3456432"/>
            <a:ext cx="457199" cy="0"/>
          </a:xfrm>
          <a:prstGeom prst="line">
            <a:avLst/>
          </a:prstGeom>
          <a:ln w="13970">
            <a:solidFill>
              <a:srgbClr val="D6D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321808" y="3456432"/>
            <a:ext cx="438912" cy="0"/>
          </a:xfrm>
          <a:prstGeom prst="line">
            <a:avLst/>
          </a:prstGeom>
          <a:ln w="13970">
            <a:solidFill>
              <a:srgbClr val="D6D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8" y="4828032"/>
            <a:ext cx="32004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Rubric-Aware Writing Feedback MVP  |  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175363-C8F8-0D8D-AE56-D84009BAB8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25" b="4692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32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830545-8304-DF81-6127-B93411C6F5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3" b="9214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127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AE110D-A285-3DAE-A469-EF10280ACA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17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58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28090"/>
                </a:solidFill>
                <a:latin typeface="Aptos"/>
              </a:rPr>
              <a:t>PILOT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955279" cy="8679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dirty="0">
                <a:solidFill>
                  <a:srgbClr val="17212B"/>
                </a:solidFill>
                <a:latin typeface="Aptos"/>
              </a:rPr>
              <a:t>Definition of done balances function, AI quality, and learning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8528"/>
            <a:ext cx="242316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1668528"/>
            <a:ext cx="73152" cy="269748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833120"/>
            <a:ext cx="2075688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Functional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235456"/>
            <a:ext cx="2075688" cy="19842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 dirty="0">
                <a:solidFill>
                  <a:srgbClr val="2F3A45"/>
                </a:solidFill>
                <a:latin typeface="Aptos"/>
              </a:rPr>
              <a:t>Submit draft and rubric
Receive structured feedback
See priorities and checklist
Submit usefulness rating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668528"/>
            <a:ext cx="242316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55848" y="1668528"/>
            <a:ext cx="73152" cy="269748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57016" y="1833120"/>
            <a:ext cx="2075688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AI output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2235456"/>
            <a:ext cx="2075688" cy="19842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2F3A45"/>
                </a:solidFill>
                <a:latin typeface="Aptos"/>
              </a:rPr>
              <a:t>Schema validation passes
No grades or authority claims
Feedback grounded in evidence
Uncertainty is explicit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3328" y="1668528"/>
            <a:ext cx="242316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53328" y="1668528"/>
            <a:ext cx="73152" cy="269748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4496" y="1833120"/>
            <a:ext cx="2075688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Product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235456"/>
            <a:ext cx="2075688" cy="19842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2F3A45"/>
                </a:solidFill>
                <a:latin typeface="Aptos"/>
              </a:rPr>
              <a:t>Completion and failure rates
Latency and validation failures
Usefulness ratings
Manual quality review samples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828032"/>
            <a:ext cx="32004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Rubric-Aware Writing Feedback MVP  |  06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1792" y="512064"/>
            <a:ext cx="1143000" cy="310896"/>
          </a:xfrm>
          <a:prstGeom prst="round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Primary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7772400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  <a:latin typeface="Aptos Display"/>
              </a:rPr>
              <a:t>Feedback that sounds polished can still be vague, unsupported, or misaligned.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31720"/>
            <a:ext cx="18288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2C39A"/>
                </a:solidFill>
                <a:latin typeface="Aptos"/>
              </a:rPr>
              <a:t>Mitigation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24912"/>
            <a:ext cx="4754880" cy="1444752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230">
                <a:solidFill>
                  <a:srgbClr val="F7F4EF"/>
                </a:solidFill>
                <a:latin typeface="Aptos"/>
              </a:defRPr>
            </a:pPr>
            <a:r>
              <a:t>Explicit rubric anchors the analysis</a:t>
            </a:r>
          </a:p>
          <a:p>
            <a:pPr>
              <a:spcAft>
                <a:spcPts val="700"/>
              </a:spcAft>
              <a:defRPr sz="1230">
                <a:solidFill>
                  <a:srgbClr val="F7F4EF"/>
                </a:solidFill>
                <a:latin typeface="Aptos"/>
              </a:defRPr>
            </a:pPr>
            <a:r>
              <a:t>Rubric-first parsing prevents invented criteria</a:t>
            </a:r>
          </a:p>
          <a:p>
            <a:pPr>
              <a:spcAft>
                <a:spcPts val="700"/>
              </a:spcAft>
              <a:defRPr sz="1230">
                <a:solidFill>
                  <a:srgbClr val="F7F4EF"/>
                </a:solidFill>
                <a:latin typeface="Aptos"/>
              </a:defRPr>
            </a:pPr>
            <a:r>
              <a:t>Draft evidence is required for criterion-level feedback</a:t>
            </a:r>
          </a:p>
          <a:p>
            <a:pPr>
              <a:spcAft>
                <a:spcPts val="700"/>
              </a:spcAft>
              <a:defRPr sz="1230">
                <a:solidFill>
                  <a:srgbClr val="F7F4EF"/>
                </a:solidFill>
                <a:latin typeface="Aptos"/>
              </a:defRPr>
            </a:pPr>
            <a:r>
              <a:t>not_enough_evidence replaces guessing</a:t>
            </a:r>
          </a:p>
          <a:p>
            <a:pPr>
              <a:spcAft>
                <a:spcPts val="700"/>
              </a:spcAft>
              <a:defRPr sz="1230">
                <a:solidFill>
                  <a:srgbClr val="F7F4EF"/>
                </a:solidFill>
                <a:latin typeface="Aptos"/>
              </a:defRPr>
            </a:pPr>
            <a:r>
              <a:t>Safety checks remove harsh or grade-like language</a:t>
            </a:r>
          </a:p>
          <a:p>
            <a:pPr>
              <a:spcAft>
                <a:spcPts val="700"/>
              </a:spcAft>
              <a:defRPr sz="1230">
                <a:solidFill>
                  <a:srgbClr val="F7F4EF"/>
                </a:solidFill>
                <a:latin typeface="Aptos"/>
              </a:defRPr>
            </a:pPr>
            <a:r>
              <a:t>Scenario D later compares draft progress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50992" y="2816352"/>
            <a:ext cx="2615184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dirty="0">
                <a:solidFill>
                  <a:srgbClr val="02C39A"/>
                </a:solidFill>
                <a:latin typeface="Aptos"/>
              </a:rPr>
              <a:t>The MVP succeeds when a student leaves with a clearer, safer revision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28032"/>
            <a:ext cx="32004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Rubric-Aware Writing Feedback MVP  | 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515</Words>
  <Application>Microsoft Macintosh PowerPoint</Application>
  <PresentationFormat>On-screen Show (16:9)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Kulkarni, Shreyas</cp:lastModifiedBy>
  <cp:revision>2</cp:revision>
  <dcterms:created xsi:type="dcterms:W3CDTF">2013-01-27T09:14:16Z</dcterms:created>
  <dcterms:modified xsi:type="dcterms:W3CDTF">2026-05-12T15:30:00Z</dcterms:modified>
  <cp:category/>
</cp:coreProperties>
</file>